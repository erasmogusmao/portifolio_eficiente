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4" r:id="rId4"/>
    <p:sldId id="265" r:id="rId5"/>
    <p:sldId id="266" r:id="rId6"/>
    <p:sldId id="261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42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8450E3-A702-7C1C-7984-D2595AB79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DCBF9C-3161-AC3B-D7C0-3192FFB6F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8632FE-9510-9645-1828-BAA2CACFE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5D477-F523-48E5-B6F9-4A5E3795EB43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DEF2B5-2EF0-F69D-968A-9F72FBC59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27F373-7601-3F2B-37FB-4A5D6D724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7B08-0A39-4ED1-9C62-1D1DC8CBD1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0458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C98182-AADB-F0BC-31DD-B76FC53AF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4EFCB7-8A5C-ACC3-E0DB-442858907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67F770-91C8-0964-DB43-5CB3DB31E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5D477-F523-48E5-B6F9-4A5E3795EB43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69CC58-B681-FFF2-3D1D-E3698B3BD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5E7540-C2E3-391A-24E5-295F5F88C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7B08-0A39-4ED1-9C62-1D1DC8CBD1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1975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DC27C-C9EF-A825-9115-957DE5B0C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8060E-133B-3960-FBB6-E596D4943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EE0F98-F4C3-ECB4-8664-A416BDFC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5D477-F523-48E5-B6F9-4A5E3795EB43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8D798A-EF3D-E722-6EDF-8D3CA0D86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2716C6-2DAB-DAB7-CD96-B0D0654C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7B08-0A39-4ED1-9C62-1D1DC8CBD1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2776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152204-1185-719D-5BDC-E6C23A120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C7FDA2-FC3D-B476-F4BB-A66658702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9B8752A-1B24-70AE-A786-B6985EDD5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764DFB4-FDE4-620C-E19A-27F03D9FF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5D477-F523-48E5-B6F9-4A5E3795EB43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924A13-0D39-10F1-9159-5C4C8C8EA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93DE0C-F4BA-5355-ECED-13B159C8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7B08-0A39-4ED1-9C62-1D1DC8CBD1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1033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AFC18-FD36-98B9-59EF-557AA628C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114052-8406-378D-2AE9-96B55F56A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541A4D3-9BD9-D3E1-D5F1-FF283285B0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509CF80-D9D8-D690-9877-D8E046E832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212B436-26F6-9868-1CF8-326D8D251D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9A9A500-CBE4-C4B5-1605-2A7C2D6E9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5D477-F523-48E5-B6F9-4A5E3795EB43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FE3EB8F-78ED-4636-5180-1987FD7FB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CDDEE57-2648-1A13-D4D0-8D42AD969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7B08-0A39-4ED1-9C62-1D1DC8CBD1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7935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112B22-0E3A-6097-9B8F-25E03F7AF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35A8622-751F-4A6E-1F95-B4EAB42D9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5D477-F523-48E5-B6F9-4A5E3795EB43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AD77B96-9833-980C-A38C-052C483C6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7C779B-D95A-7E00-E9E8-B5E4CF061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7B08-0A39-4ED1-9C62-1D1DC8CBD1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0042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6F6EB54-9063-6006-81D0-6FBACB57A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5D477-F523-48E5-B6F9-4A5E3795EB43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44945-E9E2-8A63-43BA-0EF1ECCE9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8082F67-A997-AB74-A62F-E599D6D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7B08-0A39-4ED1-9C62-1D1DC8CBD1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9028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50BD83-6120-FBBB-F5D2-515187B7C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A649C6-062D-207E-7DBF-4D5E336FC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8B2618-A937-396B-EBEE-EA2ADA099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31DBB76-1F1F-25D5-9A66-3C5DBD93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5D477-F523-48E5-B6F9-4A5E3795EB43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53FEF3-534E-5462-F410-B2C1DAF3F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38116E-45CE-A91D-4AAB-69D0E73AD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7B08-0A39-4ED1-9C62-1D1DC8CBD1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3522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F5F2A1-3E06-1401-DA43-A3EFFEBCF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6584FE9-1C0F-32B6-AC9D-FA33A6FE14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DE7272-806A-B252-3DE3-881BFF121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236D63-B01E-4E60-F45B-149EF6876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5D477-F523-48E5-B6F9-4A5E3795EB43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3AD82B-87E3-AA68-3ACC-92B5DF81B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9DE557-36D2-4C2F-BFED-B351FB5C7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7B08-0A39-4ED1-9C62-1D1DC8CBD1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8155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877275-5660-128F-824B-2B155CBC5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6B9D3C0-7E8B-224F-FBBA-994230231C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63C6E5-7C12-04F2-B08C-A5039C024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5D477-F523-48E5-B6F9-4A5E3795EB43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BA5F6A-CAED-96A6-9D14-E1D49C9DB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4E0C75-200A-FA75-A11B-49D898C93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7B08-0A39-4ED1-9C62-1D1DC8CBD1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5400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2FF0E23-5F8B-6354-424B-E78AAAE61C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2C08C0C-22B3-19A3-52FE-806062EE02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EBBAD-ACDC-9978-863F-42450BBCD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5D477-F523-48E5-B6F9-4A5E3795EB43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25D8CA-9347-2FFB-DA5B-8BB97A7B8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2B342A-8E33-3350-E614-EE2AF925D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7B08-0A39-4ED1-9C62-1D1DC8CBD1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0722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E7A8FFA-E82D-F263-A690-A98283B03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4AE0D6-535C-2BC8-3B17-2091C0DB2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8C90FE-31FF-E242-B0C9-F3AF16DA1F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15D477-F523-48E5-B6F9-4A5E3795EB43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45F0C9-4F21-CCFF-ABFA-51196733B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C04711-FE37-2241-64BA-CC6D360212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C07B08-0A39-4ED1-9C62-1D1DC8CBD1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0900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5ADB3-0621-35E6-6ADF-38F36ABA5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C3218665-036F-1CD3-E8F9-4FF937650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514"/>
            <a:ext cx="8027918" cy="5274115"/>
          </a:xfrm>
          <a:prstGeom prst="rect">
            <a:avLst/>
          </a:prstGeom>
        </p:spPr>
      </p:pic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0A4CA661-B59F-4EE5-9F2A-1ED73C216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028234"/>
              </p:ext>
            </p:extLst>
          </p:nvPr>
        </p:nvGraphicFramePr>
        <p:xfrm>
          <a:off x="7222373" y="977243"/>
          <a:ext cx="4865915" cy="188976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102434">
                  <a:extLst>
                    <a:ext uri="{9D8B030D-6E8A-4147-A177-3AD203B41FA5}">
                      <a16:colId xmlns:a16="http://schemas.microsoft.com/office/drawing/2014/main" val="1431867835"/>
                    </a:ext>
                  </a:extLst>
                </a:gridCol>
                <a:gridCol w="1102434">
                  <a:extLst>
                    <a:ext uri="{9D8B030D-6E8A-4147-A177-3AD203B41FA5}">
                      <a16:colId xmlns:a16="http://schemas.microsoft.com/office/drawing/2014/main" val="691767957"/>
                    </a:ext>
                  </a:extLst>
                </a:gridCol>
                <a:gridCol w="1102434">
                  <a:extLst>
                    <a:ext uri="{9D8B030D-6E8A-4147-A177-3AD203B41FA5}">
                      <a16:colId xmlns:a16="http://schemas.microsoft.com/office/drawing/2014/main" val="2047638594"/>
                    </a:ext>
                  </a:extLst>
                </a:gridCol>
                <a:gridCol w="1558613">
                  <a:extLst>
                    <a:ext uri="{9D8B030D-6E8A-4147-A177-3AD203B41FA5}">
                      <a16:colId xmlns:a16="http://schemas.microsoft.com/office/drawing/2014/main" val="619611191"/>
                    </a:ext>
                  </a:extLst>
                </a:gridCol>
              </a:tblGrid>
              <a:tr h="8176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Carteira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br>
                        <a:rPr lang="pt-BR" sz="1400" b="1" dirty="0">
                          <a:effectLst/>
                        </a:rPr>
                      </a:br>
                      <a:r>
                        <a:rPr lang="pt-BR" sz="1400" b="1" dirty="0">
                          <a:effectLst/>
                        </a:rPr>
                        <a:t>Retorno anual esperado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dirty="0">
                          <a:effectLst/>
                        </a:rPr>
                        <a:t>Volatilidade anual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dirty="0">
                          <a:effectLst/>
                        </a:rPr>
                        <a:t>Sharpe (</a:t>
                      </a:r>
                      <a:r>
                        <a:rPr lang="pt-BR" sz="1400" b="1" dirty="0" err="1">
                          <a:effectLst/>
                        </a:rPr>
                        <a:t>rf</a:t>
                      </a:r>
                      <a:r>
                        <a:rPr lang="pt-BR" sz="1400" b="1" dirty="0">
                          <a:effectLst/>
                        </a:rPr>
                        <a:t>=CDI)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339532276"/>
                  </a:ext>
                </a:extLst>
              </a:tr>
              <a:tr h="4360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Mín. Volatilidade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12.51%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29.70%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-0.08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777309714"/>
                  </a:ext>
                </a:extLst>
              </a:tr>
              <a:tr h="4360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dirty="0">
                          <a:effectLst/>
                        </a:rPr>
                        <a:t>Sharpe Máximo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13.19%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30.25%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effectLst/>
                        </a:rPr>
                        <a:t>-0.06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702794375"/>
                  </a:ext>
                </a:extLst>
              </a:tr>
            </a:tbl>
          </a:graphicData>
        </a:graphic>
      </p:graphicFrame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E2DC4865-D3A9-B83C-52A2-426AD72F76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40950"/>
              </p:ext>
            </p:extLst>
          </p:nvPr>
        </p:nvGraphicFramePr>
        <p:xfrm>
          <a:off x="7309458" y="3432766"/>
          <a:ext cx="4691743" cy="82296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374349">
                  <a:extLst>
                    <a:ext uri="{9D8B030D-6E8A-4147-A177-3AD203B41FA5}">
                      <a16:colId xmlns:a16="http://schemas.microsoft.com/office/drawing/2014/main" val="149713492"/>
                    </a:ext>
                  </a:extLst>
                </a:gridCol>
                <a:gridCol w="1374349">
                  <a:extLst>
                    <a:ext uri="{9D8B030D-6E8A-4147-A177-3AD203B41FA5}">
                      <a16:colId xmlns:a16="http://schemas.microsoft.com/office/drawing/2014/main" val="2190957908"/>
                    </a:ext>
                  </a:extLst>
                </a:gridCol>
                <a:gridCol w="1943045">
                  <a:extLst>
                    <a:ext uri="{9D8B030D-6E8A-4147-A177-3AD203B41FA5}">
                      <a16:colId xmlns:a16="http://schemas.microsoft.com/office/drawing/2014/main" val="2275622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dirty="0">
                          <a:effectLst/>
                        </a:rPr>
                        <a:t>Ativo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dirty="0" err="1">
                          <a:effectLst/>
                        </a:rPr>
                        <a:t>Peso_Min_Vol</a:t>
                      </a:r>
                      <a:endParaRPr lang="pt-BR" sz="140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dirty="0" err="1">
                          <a:effectLst/>
                        </a:rPr>
                        <a:t>Peso_Max_Sharpe</a:t>
                      </a:r>
                      <a:endParaRPr lang="pt-BR" sz="140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427126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>
                          <a:effectLst/>
                        </a:rPr>
                        <a:t>BBAS3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23.02%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0.00%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258853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>
                          <a:effectLst/>
                        </a:rPr>
                        <a:t>ITUB4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76.98%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effectLst/>
                        </a:rPr>
                        <a:t>100.00%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136675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8377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Gráfico, Gráfico de superfície&#10;&#10;O conteúdo gerado por IA pode estar incorreto.">
            <a:extLst>
              <a:ext uri="{FF2B5EF4-FFF2-40B4-BE49-F238E27FC236}">
                <a16:creationId xmlns:a16="http://schemas.microsoft.com/office/drawing/2014/main" id="{DA9BFB8D-4133-7BA0-08F0-45F37A058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028000" cy="5400279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0558D606-B4B5-1221-8322-60E2EBB50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340558"/>
              </p:ext>
            </p:extLst>
          </p:nvPr>
        </p:nvGraphicFramePr>
        <p:xfrm>
          <a:off x="7233259" y="1227615"/>
          <a:ext cx="4865915" cy="2082544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102434">
                  <a:extLst>
                    <a:ext uri="{9D8B030D-6E8A-4147-A177-3AD203B41FA5}">
                      <a16:colId xmlns:a16="http://schemas.microsoft.com/office/drawing/2014/main" val="1431867835"/>
                    </a:ext>
                  </a:extLst>
                </a:gridCol>
                <a:gridCol w="1102434">
                  <a:extLst>
                    <a:ext uri="{9D8B030D-6E8A-4147-A177-3AD203B41FA5}">
                      <a16:colId xmlns:a16="http://schemas.microsoft.com/office/drawing/2014/main" val="691767957"/>
                    </a:ext>
                  </a:extLst>
                </a:gridCol>
                <a:gridCol w="1102434">
                  <a:extLst>
                    <a:ext uri="{9D8B030D-6E8A-4147-A177-3AD203B41FA5}">
                      <a16:colId xmlns:a16="http://schemas.microsoft.com/office/drawing/2014/main" val="2047638594"/>
                    </a:ext>
                  </a:extLst>
                </a:gridCol>
                <a:gridCol w="1558613">
                  <a:extLst>
                    <a:ext uri="{9D8B030D-6E8A-4147-A177-3AD203B41FA5}">
                      <a16:colId xmlns:a16="http://schemas.microsoft.com/office/drawing/2014/main" val="619611191"/>
                    </a:ext>
                  </a:extLst>
                </a:gridCol>
              </a:tblGrid>
              <a:tr h="8176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>
                          <a:effectLst/>
                        </a:rPr>
                        <a:t>Carteira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>
                          <a:effectLst/>
                        </a:rPr>
                        <a:t>Retorno anual esperado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>
                          <a:effectLst/>
                        </a:rPr>
                        <a:t>Volatilidade anual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>
                          <a:effectLst/>
                        </a:rPr>
                        <a:t>Sharpe (rf=CDI)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339532276"/>
                  </a:ext>
                </a:extLst>
              </a:tr>
              <a:tr h="4360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effectLst/>
                        </a:rPr>
                        <a:t>Mín. Volatilidade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13.20%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11.88%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-0.143405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777309714"/>
                  </a:ext>
                </a:extLst>
              </a:tr>
              <a:tr h="4360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effectLst/>
                        </a:rPr>
                        <a:t>Sharpe Máximo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33.64%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19.83%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0.944603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702794375"/>
                  </a:ext>
                </a:extLst>
              </a:tr>
            </a:tbl>
          </a:graphicData>
        </a:graphic>
      </p:graphicFrame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58167670-DC37-2E4A-7ED4-177DE2FE1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615555"/>
              </p:ext>
            </p:extLst>
          </p:nvPr>
        </p:nvGraphicFramePr>
        <p:xfrm>
          <a:off x="7233259" y="3635829"/>
          <a:ext cx="4865916" cy="1609664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621972">
                  <a:extLst>
                    <a:ext uri="{9D8B030D-6E8A-4147-A177-3AD203B41FA5}">
                      <a16:colId xmlns:a16="http://schemas.microsoft.com/office/drawing/2014/main" val="670423966"/>
                    </a:ext>
                  </a:extLst>
                </a:gridCol>
                <a:gridCol w="1621972">
                  <a:extLst>
                    <a:ext uri="{9D8B030D-6E8A-4147-A177-3AD203B41FA5}">
                      <a16:colId xmlns:a16="http://schemas.microsoft.com/office/drawing/2014/main" val="2063907092"/>
                    </a:ext>
                  </a:extLst>
                </a:gridCol>
                <a:gridCol w="1621972">
                  <a:extLst>
                    <a:ext uri="{9D8B030D-6E8A-4147-A177-3AD203B41FA5}">
                      <a16:colId xmlns:a16="http://schemas.microsoft.com/office/drawing/2014/main" val="1893070622"/>
                    </a:ext>
                  </a:extLst>
                </a:gridCol>
              </a:tblGrid>
              <a:tr h="6074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Ativo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>
                          <a:effectLst/>
                        </a:rPr>
                        <a:t>Peso_Min_Vol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>
                          <a:effectLst/>
                        </a:rPr>
                        <a:t>Peso_Max_Sharpe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51973350"/>
                  </a:ext>
                </a:extLst>
              </a:tr>
              <a:tr h="3340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BBAS3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14.06%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0.00%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276186741"/>
                  </a:ext>
                </a:extLst>
              </a:tr>
              <a:tr h="3340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ITUB4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23.46%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100.00%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625022600"/>
                  </a:ext>
                </a:extLst>
              </a:tr>
              <a:tr h="3340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KDIF11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62.48%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0.00%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305642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8816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6E36D27B-5DF0-BD08-6DAA-2872803D2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7920000" cy="5400000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3ADA9242-B092-88D1-DB3C-BD1225C18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155956"/>
              </p:ext>
            </p:extLst>
          </p:nvPr>
        </p:nvGraphicFramePr>
        <p:xfrm>
          <a:off x="7053943" y="1114402"/>
          <a:ext cx="5100604" cy="178308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275151">
                  <a:extLst>
                    <a:ext uri="{9D8B030D-6E8A-4147-A177-3AD203B41FA5}">
                      <a16:colId xmlns:a16="http://schemas.microsoft.com/office/drawing/2014/main" val="2667732521"/>
                    </a:ext>
                  </a:extLst>
                </a:gridCol>
                <a:gridCol w="1275151">
                  <a:extLst>
                    <a:ext uri="{9D8B030D-6E8A-4147-A177-3AD203B41FA5}">
                      <a16:colId xmlns:a16="http://schemas.microsoft.com/office/drawing/2014/main" val="3998290640"/>
                    </a:ext>
                  </a:extLst>
                </a:gridCol>
                <a:gridCol w="1275151">
                  <a:extLst>
                    <a:ext uri="{9D8B030D-6E8A-4147-A177-3AD203B41FA5}">
                      <a16:colId xmlns:a16="http://schemas.microsoft.com/office/drawing/2014/main" val="717628301"/>
                    </a:ext>
                  </a:extLst>
                </a:gridCol>
                <a:gridCol w="1275151">
                  <a:extLst>
                    <a:ext uri="{9D8B030D-6E8A-4147-A177-3AD203B41FA5}">
                      <a16:colId xmlns:a16="http://schemas.microsoft.com/office/drawing/2014/main" val="9124992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Carteira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>
                          <a:effectLst/>
                        </a:rPr>
                        <a:t>Retorno anual esperado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>
                          <a:effectLst/>
                        </a:rPr>
                        <a:t>Volatilidade anual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>
                          <a:effectLst/>
                        </a:rPr>
                        <a:t>Sharpe (rf=CDI)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904857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effectLst/>
                        </a:rPr>
                        <a:t>Mín. Volatilidade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19.98%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20.86%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0.243623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444325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effectLst/>
                        </a:rPr>
                        <a:t>Sharpe Máximo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29.67%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35.56%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0.415472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648482054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F231B27C-67BD-34F8-C7C3-40AD59F5B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706101"/>
              </p:ext>
            </p:extLst>
          </p:nvPr>
        </p:nvGraphicFramePr>
        <p:xfrm>
          <a:off x="7053943" y="3429000"/>
          <a:ext cx="5100603" cy="115824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700201">
                  <a:extLst>
                    <a:ext uri="{9D8B030D-6E8A-4147-A177-3AD203B41FA5}">
                      <a16:colId xmlns:a16="http://schemas.microsoft.com/office/drawing/2014/main" val="1177078531"/>
                    </a:ext>
                  </a:extLst>
                </a:gridCol>
                <a:gridCol w="1700201">
                  <a:extLst>
                    <a:ext uri="{9D8B030D-6E8A-4147-A177-3AD203B41FA5}">
                      <a16:colId xmlns:a16="http://schemas.microsoft.com/office/drawing/2014/main" val="17555022"/>
                    </a:ext>
                  </a:extLst>
                </a:gridCol>
                <a:gridCol w="1700201">
                  <a:extLst>
                    <a:ext uri="{9D8B030D-6E8A-4147-A177-3AD203B41FA5}">
                      <a16:colId xmlns:a16="http://schemas.microsoft.com/office/drawing/2014/main" val="13379259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Ativo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>
                          <a:effectLst/>
                        </a:rPr>
                        <a:t>Peso_Min_Vol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>
                          <a:effectLst/>
                        </a:rPr>
                        <a:t>Peso_Max_Sharpe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875046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BBAS3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34.52%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14.89%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830472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ITUB4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50.52%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18.24%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354640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QBTC11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14.96%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66.87%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336948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6500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Gráfico&#10;&#10;O conteúdo gerado por IA pode estar incorreto.">
            <a:extLst>
              <a:ext uri="{FF2B5EF4-FFF2-40B4-BE49-F238E27FC236}">
                <a16:creationId xmlns:a16="http://schemas.microsoft.com/office/drawing/2014/main" id="{7C59E69B-D613-E5DD-7AC8-B1F8715E0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920000" cy="5323056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A046D31-2822-68FE-B513-894B1D9F7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148385"/>
              </p:ext>
            </p:extLst>
          </p:nvPr>
        </p:nvGraphicFramePr>
        <p:xfrm>
          <a:off x="7151912" y="1016431"/>
          <a:ext cx="4963888" cy="178308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240972">
                  <a:extLst>
                    <a:ext uri="{9D8B030D-6E8A-4147-A177-3AD203B41FA5}">
                      <a16:colId xmlns:a16="http://schemas.microsoft.com/office/drawing/2014/main" val="1357268795"/>
                    </a:ext>
                  </a:extLst>
                </a:gridCol>
                <a:gridCol w="1240972">
                  <a:extLst>
                    <a:ext uri="{9D8B030D-6E8A-4147-A177-3AD203B41FA5}">
                      <a16:colId xmlns:a16="http://schemas.microsoft.com/office/drawing/2014/main" val="1562064931"/>
                    </a:ext>
                  </a:extLst>
                </a:gridCol>
                <a:gridCol w="1240972">
                  <a:extLst>
                    <a:ext uri="{9D8B030D-6E8A-4147-A177-3AD203B41FA5}">
                      <a16:colId xmlns:a16="http://schemas.microsoft.com/office/drawing/2014/main" val="1519910159"/>
                    </a:ext>
                  </a:extLst>
                </a:gridCol>
                <a:gridCol w="1240972">
                  <a:extLst>
                    <a:ext uri="{9D8B030D-6E8A-4147-A177-3AD203B41FA5}">
                      <a16:colId xmlns:a16="http://schemas.microsoft.com/office/drawing/2014/main" val="17328211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Carteira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>
                          <a:effectLst/>
                        </a:rPr>
                        <a:t>Retorno anual esperado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>
                          <a:effectLst/>
                        </a:rPr>
                        <a:t>Volatilidade anual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>
                          <a:effectLst/>
                        </a:rPr>
                        <a:t>Sharpe (rf=CDI)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440606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effectLst/>
                        </a:rPr>
                        <a:t>Mín. Volatilidade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14.33%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11.38%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-0.049887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493402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Sharpe Máximo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32.87%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17.97%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0.999678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081770161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D6383F70-B1E2-99C0-6201-B9AF2A50A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657365"/>
              </p:ext>
            </p:extLst>
          </p:nvPr>
        </p:nvGraphicFramePr>
        <p:xfrm>
          <a:off x="7151910" y="3092042"/>
          <a:ext cx="4963887" cy="16764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654629">
                  <a:extLst>
                    <a:ext uri="{9D8B030D-6E8A-4147-A177-3AD203B41FA5}">
                      <a16:colId xmlns:a16="http://schemas.microsoft.com/office/drawing/2014/main" val="956826119"/>
                    </a:ext>
                  </a:extLst>
                </a:gridCol>
                <a:gridCol w="1654629">
                  <a:extLst>
                    <a:ext uri="{9D8B030D-6E8A-4147-A177-3AD203B41FA5}">
                      <a16:colId xmlns:a16="http://schemas.microsoft.com/office/drawing/2014/main" val="3957189161"/>
                    </a:ext>
                  </a:extLst>
                </a:gridCol>
                <a:gridCol w="1654629">
                  <a:extLst>
                    <a:ext uri="{9D8B030D-6E8A-4147-A177-3AD203B41FA5}">
                      <a16:colId xmlns:a16="http://schemas.microsoft.com/office/drawing/2014/main" val="9819917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Ativo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 dirty="0" err="1">
                          <a:effectLst/>
                        </a:rPr>
                        <a:t>Peso_Min_Vol</a:t>
                      </a:r>
                      <a:endParaRPr lang="pt-BR" sz="1500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 dirty="0" err="1">
                          <a:effectLst/>
                        </a:rPr>
                        <a:t>Peso_Max_Sharpe</a:t>
                      </a:r>
                      <a:endParaRPr lang="pt-BR" sz="1500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393742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</a:rPr>
                        <a:t>BBAS3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13.15%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0.00%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789609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ITUB4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22.14%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</a:rPr>
                        <a:t>86.87%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747457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KDIF11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57.47%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0.00%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101145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QBTC11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7.24%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</a:rPr>
                        <a:t>13.13%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103132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3315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Gráfico&#10;&#10;O conteúdo gerado por IA pode estar incorreto.">
            <a:extLst>
              <a:ext uri="{FF2B5EF4-FFF2-40B4-BE49-F238E27FC236}">
                <a16:creationId xmlns:a16="http://schemas.microsoft.com/office/drawing/2014/main" id="{35332498-79ED-2E57-F72C-998F630EC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7920000" cy="5232371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A35CA3FE-42B5-6124-4FDA-87EDFA6D9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198486"/>
              </p:ext>
            </p:extLst>
          </p:nvPr>
        </p:nvGraphicFramePr>
        <p:xfrm>
          <a:off x="7108371" y="1094363"/>
          <a:ext cx="4909456" cy="178308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227364">
                  <a:extLst>
                    <a:ext uri="{9D8B030D-6E8A-4147-A177-3AD203B41FA5}">
                      <a16:colId xmlns:a16="http://schemas.microsoft.com/office/drawing/2014/main" val="2850838942"/>
                    </a:ext>
                  </a:extLst>
                </a:gridCol>
                <a:gridCol w="1227364">
                  <a:extLst>
                    <a:ext uri="{9D8B030D-6E8A-4147-A177-3AD203B41FA5}">
                      <a16:colId xmlns:a16="http://schemas.microsoft.com/office/drawing/2014/main" val="2823590526"/>
                    </a:ext>
                  </a:extLst>
                </a:gridCol>
                <a:gridCol w="1227364">
                  <a:extLst>
                    <a:ext uri="{9D8B030D-6E8A-4147-A177-3AD203B41FA5}">
                      <a16:colId xmlns:a16="http://schemas.microsoft.com/office/drawing/2014/main" val="2200482036"/>
                    </a:ext>
                  </a:extLst>
                </a:gridCol>
                <a:gridCol w="1227364">
                  <a:extLst>
                    <a:ext uri="{9D8B030D-6E8A-4147-A177-3AD203B41FA5}">
                      <a16:colId xmlns:a16="http://schemas.microsoft.com/office/drawing/2014/main" val="10857012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>
                          <a:effectLst/>
                        </a:rPr>
                        <a:t>Carteira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Retorno anual esperado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>
                          <a:effectLst/>
                        </a:rPr>
                        <a:t>Volatilidade anual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>
                          <a:effectLst/>
                        </a:rPr>
                        <a:t>Sharpe (rf=CDI)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803503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effectLst/>
                        </a:rPr>
                        <a:t>Mín. Volatilidade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14.12%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10.34%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-0.075467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433808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effectLst/>
                        </a:rPr>
                        <a:t>Sharpe Máximo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31.66%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16.38%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1.023390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740324299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66811253-F9C3-B734-4E2C-4FD2896A5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860498"/>
              </p:ext>
            </p:extLst>
          </p:nvPr>
        </p:nvGraphicFramePr>
        <p:xfrm>
          <a:off x="7108369" y="3041447"/>
          <a:ext cx="4909458" cy="225552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636486">
                  <a:extLst>
                    <a:ext uri="{9D8B030D-6E8A-4147-A177-3AD203B41FA5}">
                      <a16:colId xmlns:a16="http://schemas.microsoft.com/office/drawing/2014/main" val="519581975"/>
                    </a:ext>
                  </a:extLst>
                </a:gridCol>
                <a:gridCol w="1636486">
                  <a:extLst>
                    <a:ext uri="{9D8B030D-6E8A-4147-A177-3AD203B41FA5}">
                      <a16:colId xmlns:a16="http://schemas.microsoft.com/office/drawing/2014/main" val="3164047468"/>
                    </a:ext>
                  </a:extLst>
                </a:gridCol>
                <a:gridCol w="1636486">
                  <a:extLst>
                    <a:ext uri="{9D8B030D-6E8A-4147-A177-3AD203B41FA5}">
                      <a16:colId xmlns:a16="http://schemas.microsoft.com/office/drawing/2014/main" val="10736021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Ativo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 dirty="0" err="1">
                          <a:effectLst/>
                        </a:rPr>
                        <a:t>Peso_Min_Vol</a:t>
                      </a:r>
                      <a:endParaRPr lang="pt-BR" sz="1500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 dirty="0" err="1">
                          <a:effectLst/>
                        </a:rPr>
                        <a:t>Peso_Max_Sharpe</a:t>
                      </a:r>
                      <a:endParaRPr lang="pt-BR" sz="1500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303912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BBAS3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8.53%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0.00%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92180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ITUB4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13.33%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73.62%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735531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KDIF11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47.52%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0.00%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205201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PETR4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13.54%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0.00%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526599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QBTC11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4.88%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10.73%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162732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VALE3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12.20%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</a:rPr>
                        <a:t>15.64%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156716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7831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62D17-E52F-7A5F-75D6-BEAC9B1D7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4E04E1DB-0386-7E86-840A-B4FEF518E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920000" cy="5257416"/>
          </a:xfrm>
          <a:prstGeom prst="rect">
            <a:avLst/>
          </a:prstGeom>
        </p:spPr>
      </p:pic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30C45552-E493-E31D-AE21-96F5A39FDC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244910"/>
              </p:ext>
            </p:extLst>
          </p:nvPr>
        </p:nvGraphicFramePr>
        <p:xfrm>
          <a:off x="6966856" y="1166244"/>
          <a:ext cx="5072744" cy="178308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268186">
                  <a:extLst>
                    <a:ext uri="{9D8B030D-6E8A-4147-A177-3AD203B41FA5}">
                      <a16:colId xmlns:a16="http://schemas.microsoft.com/office/drawing/2014/main" val="4056699801"/>
                    </a:ext>
                  </a:extLst>
                </a:gridCol>
                <a:gridCol w="1268186">
                  <a:extLst>
                    <a:ext uri="{9D8B030D-6E8A-4147-A177-3AD203B41FA5}">
                      <a16:colId xmlns:a16="http://schemas.microsoft.com/office/drawing/2014/main" val="490425058"/>
                    </a:ext>
                  </a:extLst>
                </a:gridCol>
                <a:gridCol w="1268186">
                  <a:extLst>
                    <a:ext uri="{9D8B030D-6E8A-4147-A177-3AD203B41FA5}">
                      <a16:colId xmlns:a16="http://schemas.microsoft.com/office/drawing/2014/main" val="933429850"/>
                    </a:ext>
                  </a:extLst>
                </a:gridCol>
                <a:gridCol w="1268186">
                  <a:extLst>
                    <a:ext uri="{9D8B030D-6E8A-4147-A177-3AD203B41FA5}">
                      <a16:colId xmlns:a16="http://schemas.microsoft.com/office/drawing/2014/main" val="10594553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>
                          <a:effectLst/>
                        </a:rPr>
                        <a:t>Carteira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>
                          <a:effectLst/>
                        </a:rPr>
                        <a:t>Retorno anual esperado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>
                          <a:effectLst/>
                        </a:rPr>
                        <a:t>Volatilidade anual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>
                          <a:effectLst/>
                        </a:rPr>
                        <a:t>Sharpe (rf=CDI)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292002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effectLst/>
                        </a:rPr>
                        <a:t>Mín. Volatilidade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33.91%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34.87%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0.545181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683269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effectLst/>
                        </a:rPr>
                        <a:t>Sharpe Máximo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37.25%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>
                          <a:effectLst/>
                        </a:rPr>
                        <a:t>36.40%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0.613964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65857771"/>
                  </a:ext>
                </a:extLst>
              </a:tr>
            </a:tbl>
          </a:graphicData>
        </a:graphic>
      </p:graphicFrame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0CB8E7CD-263E-09C5-46B6-87315C8207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319915"/>
              </p:ext>
            </p:extLst>
          </p:nvPr>
        </p:nvGraphicFramePr>
        <p:xfrm>
          <a:off x="6966856" y="3324202"/>
          <a:ext cx="5072745" cy="82296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690915">
                  <a:extLst>
                    <a:ext uri="{9D8B030D-6E8A-4147-A177-3AD203B41FA5}">
                      <a16:colId xmlns:a16="http://schemas.microsoft.com/office/drawing/2014/main" val="4109598554"/>
                    </a:ext>
                  </a:extLst>
                </a:gridCol>
                <a:gridCol w="1690915">
                  <a:extLst>
                    <a:ext uri="{9D8B030D-6E8A-4147-A177-3AD203B41FA5}">
                      <a16:colId xmlns:a16="http://schemas.microsoft.com/office/drawing/2014/main" val="156975998"/>
                    </a:ext>
                  </a:extLst>
                </a:gridCol>
                <a:gridCol w="1690915">
                  <a:extLst>
                    <a:ext uri="{9D8B030D-6E8A-4147-A177-3AD203B41FA5}">
                      <a16:colId xmlns:a16="http://schemas.microsoft.com/office/drawing/2014/main" val="192558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dirty="0">
                          <a:effectLst/>
                        </a:rPr>
                        <a:t>Ativo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Peso_Min_Vol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dirty="0" err="1">
                          <a:effectLst/>
                        </a:rPr>
                        <a:t>Peso_Max_Sharpe</a:t>
                      </a:r>
                      <a:endParaRPr lang="pt-BR" sz="1400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384231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AMZN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35.46%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0.00%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964191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GOOGL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64.54%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effectLst/>
                        </a:rPr>
                        <a:t>100.00%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298821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0936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7D46C9EE-A863-5DEC-C1B8-D12543F28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7920000" cy="5207671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00E1DA1C-0168-9A99-8F34-E73E18FCC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618509"/>
              </p:ext>
            </p:extLst>
          </p:nvPr>
        </p:nvGraphicFramePr>
        <p:xfrm>
          <a:off x="7021286" y="972889"/>
          <a:ext cx="5029200" cy="167640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257300">
                  <a:extLst>
                    <a:ext uri="{9D8B030D-6E8A-4147-A177-3AD203B41FA5}">
                      <a16:colId xmlns:a16="http://schemas.microsoft.com/office/drawing/2014/main" val="1638392447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2236400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15692758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1746182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Carteira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Retorno anual esperado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Volatilidade anual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Sharpe (rf=CDI)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307852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effectLst/>
                        </a:rPr>
                        <a:t>Mín. Volatilidade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 dirty="0">
                          <a:effectLst/>
                        </a:rPr>
                        <a:t>36.97%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>
                          <a:effectLst/>
                        </a:rPr>
                        <a:t>36.02%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>
                          <a:effectLst/>
                        </a:rPr>
                        <a:t>0.612793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283311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effectLst/>
                        </a:rPr>
                        <a:t>Sharpe Máximo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>
                          <a:effectLst/>
                        </a:rPr>
                        <a:t>37.14%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>
                          <a:effectLst/>
                        </a:rPr>
                        <a:t>36.15%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 dirty="0">
                          <a:effectLst/>
                        </a:rPr>
                        <a:t>0.615062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272141018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CFDA9EA4-6240-BD23-5786-AE2CE16FA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264259"/>
              </p:ext>
            </p:extLst>
          </p:nvPr>
        </p:nvGraphicFramePr>
        <p:xfrm>
          <a:off x="7021284" y="2799217"/>
          <a:ext cx="5029200" cy="82296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4047160875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994491319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947479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>
                          <a:effectLst/>
                        </a:rPr>
                        <a:t>Ativo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>
                          <a:effectLst/>
                        </a:rPr>
                        <a:t>Peso_Min_Vol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>
                          <a:effectLst/>
                        </a:rPr>
                        <a:t>Peso_Max_Sharpe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279886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GOOGL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84.93%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93.78%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536189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META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15.07%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effectLst/>
                        </a:rPr>
                        <a:t>6.22%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28683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4711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C9BC570E-0566-85CF-44F3-0A7383159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7920000" cy="4924529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5F8A2A6B-A6F1-CEB7-4BEE-A829905C9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080055"/>
              </p:ext>
            </p:extLst>
          </p:nvPr>
        </p:nvGraphicFramePr>
        <p:xfrm>
          <a:off x="6955970" y="678974"/>
          <a:ext cx="5094516" cy="146304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273629">
                  <a:extLst>
                    <a:ext uri="{9D8B030D-6E8A-4147-A177-3AD203B41FA5}">
                      <a16:colId xmlns:a16="http://schemas.microsoft.com/office/drawing/2014/main" val="477759892"/>
                    </a:ext>
                  </a:extLst>
                </a:gridCol>
                <a:gridCol w="1273629">
                  <a:extLst>
                    <a:ext uri="{9D8B030D-6E8A-4147-A177-3AD203B41FA5}">
                      <a16:colId xmlns:a16="http://schemas.microsoft.com/office/drawing/2014/main" val="2196304189"/>
                    </a:ext>
                  </a:extLst>
                </a:gridCol>
                <a:gridCol w="1273629">
                  <a:extLst>
                    <a:ext uri="{9D8B030D-6E8A-4147-A177-3AD203B41FA5}">
                      <a16:colId xmlns:a16="http://schemas.microsoft.com/office/drawing/2014/main" val="856024281"/>
                    </a:ext>
                  </a:extLst>
                </a:gridCol>
                <a:gridCol w="1273629">
                  <a:extLst>
                    <a:ext uri="{9D8B030D-6E8A-4147-A177-3AD203B41FA5}">
                      <a16:colId xmlns:a16="http://schemas.microsoft.com/office/drawing/2014/main" val="19517216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Carteira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Retorno anual esperado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Volatilidade anual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Sharpe (rf=CDI)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974738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effectLst/>
                        </a:rPr>
                        <a:t>Mín. Volatilidade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 dirty="0">
                          <a:effectLst/>
                        </a:rPr>
                        <a:t>38.12%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>
                          <a:effectLst/>
                        </a:rPr>
                        <a:t>36.39%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>
                          <a:effectLst/>
                        </a:rPr>
                        <a:t>0.638059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482042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effectLst/>
                        </a:rPr>
                        <a:t>Sharpe Máximo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>
                          <a:effectLst/>
                        </a:rPr>
                        <a:t>78.08%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>
                          <a:effectLst/>
                        </a:rPr>
                        <a:t>55.98%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 dirty="0">
                          <a:effectLst/>
                        </a:rPr>
                        <a:t>1.128624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744044915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3618467A-68C5-D2D4-A89B-00B01DED3D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317393"/>
              </p:ext>
            </p:extLst>
          </p:nvPr>
        </p:nvGraphicFramePr>
        <p:xfrm>
          <a:off x="6955968" y="2298832"/>
          <a:ext cx="5094516" cy="82296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698172">
                  <a:extLst>
                    <a:ext uri="{9D8B030D-6E8A-4147-A177-3AD203B41FA5}">
                      <a16:colId xmlns:a16="http://schemas.microsoft.com/office/drawing/2014/main" val="2564480340"/>
                    </a:ext>
                  </a:extLst>
                </a:gridCol>
                <a:gridCol w="1698172">
                  <a:extLst>
                    <a:ext uri="{9D8B030D-6E8A-4147-A177-3AD203B41FA5}">
                      <a16:colId xmlns:a16="http://schemas.microsoft.com/office/drawing/2014/main" val="1149269434"/>
                    </a:ext>
                  </a:extLst>
                </a:gridCol>
                <a:gridCol w="1698172">
                  <a:extLst>
                    <a:ext uri="{9D8B030D-6E8A-4147-A177-3AD203B41FA5}">
                      <a16:colId xmlns:a16="http://schemas.microsoft.com/office/drawing/2014/main" val="42400693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dirty="0">
                          <a:effectLst/>
                        </a:rPr>
                        <a:t>Ativo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Peso_Min_Vol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dirty="0" err="1">
                          <a:effectLst/>
                        </a:rPr>
                        <a:t>Peso_Max_Sharpe</a:t>
                      </a:r>
                      <a:endParaRPr lang="pt-BR" sz="1400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140351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GOOGL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97.87%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0.00%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898619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NVDA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2.13%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effectLst/>
                        </a:rPr>
                        <a:t>100.00%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200430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3470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Gráfico&#10;&#10;O conteúdo gerado por IA pode estar incorreto.">
            <a:extLst>
              <a:ext uri="{FF2B5EF4-FFF2-40B4-BE49-F238E27FC236}">
                <a16:creationId xmlns:a16="http://schemas.microsoft.com/office/drawing/2014/main" id="{D103445D-582E-D539-4145-28E27A110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920000" cy="5194109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910383E6-88B0-467E-A2C8-33EAC6A04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155040"/>
              </p:ext>
            </p:extLst>
          </p:nvPr>
        </p:nvGraphicFramePr>
        <p:xfrm>
          <a:off x="7217229" y="929345"/>
          <a:ext cx="4865916" cy="167640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216479">
                  <a:extLst>
                    <a:ext uri="{9D8B030D-6E8A-4147-A177-3AD203B41FA5}">
                      <a16:colId xmlns:a16="http://schemas.microsoft.com/office/drawing/2014/main" val="4179946557"/>
                    </a:ext>
                  </a:extLst>
                </a:gridCol>
                <a:gridCol w="1216479">
                  <a:extLst>
                    <a:ext uri="{9D8B030D-6E8A-4147-A177-3AD203B41FA5}">
                      <a16:colId xmlns:a16="http://schemas.microsoft.com/office/drawing/2014/main" val="3013803095"/>
                    </a:ext>
                  </a:extLst>
                </a:gridCol>
                <a:gridCol w="1216479">
                  <a:extLst>
                    <a:ext uri="{9D8B030D-6E8A-4147-A177-3AD203B41FA5}">
                      <a16:colId xmlns:a16="http://schemas.microsoft.com/office/drawing/2014/main" val="1373950207"/>
                    </a:ext>
                  </a:extLst>
                </a:gridCol>
                <a:gridCol w="1216479">
                  <a:extLst>
                    <a:ext uri="{9D8B030D-6E8A-4147-A177-3AD203B41FA5}">
                      <a16:colId xmlns:a16="http://schemas.microsoft.com/office/drawing/2014/main" val="9776915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dirty="0">
                          <a:effectLst/>
                        </a:rPr>
                        <a:t>Carteira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Retorno anual esperado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Volatilidade anual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Sharpe (rf=CDI)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655492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effectLst/>
                        </a:rPr>
                        <a:t>Mín. Volatilidade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 dirty="0">
                          <a:effectLst/>
                        </a:rPr>
                        <a:t>30.50%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>
                          <a:effectLst/>
                        </a:rPr>
                        <a:t>29.87%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>
                          <a:effectLst/>
                        </a:rPr>
                        <a:t>0.522218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40065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effectLst/>
                        </a:rPr>
                        <a:t>Sharpe Máximo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>
                          <a:effectLst/>
                        </a:rPr>
                        <a:t>78.08%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 dirty="0">
                          <a:effectLst/>
                        </a:rPr>
                        <a:t>55.98%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 dirty="0">
                          <a:effectLst/>
                        </a:rPr>
                        <a:t>1.128624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892554921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9E023948-B86F-68FF-8FD3-2EBF206BB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689338"/>
              </p:ext>
            </p:extLst>
          </p:nvPr>
        </p:nvGraphicFramePr>
        <p:xfrm>
          <a:off x="7217229" y="2712130"/>
          <a:ext cx="4865916" cy="164592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621972">
                  <a:extLst>
                    <a:ext uri="{9D8B030D-6E8A-4147-A177-3AD203B41FA5}">
                      <a16:colId xmlns:a16="http://schemas.microsoft.com/office/drawing/2014/main" val="2200287396"/>
                    </a:ext>
                  </a:extLst>
                </a:gridCol>
                <a:gridCol w="1621972">
                  <a:extLst>
                    <a:ext uri="{9D8B030D-6E8A-4147-A177-3AD203B41FA5}">
                      <a16:colId xmlns:a16="http://schemas.microsoft.com/office/drawing/2014/main" val="2957260343"/>
                    </a:ext>
                  </a:extLst>
                </a:gridCol>
                <a:gridCol w="1621972">
                  <a:extLst>
                    <a:ext uri="{9D8B030D-6E8A-4147-A177-3AD203B41FA5}">
                      <a16:colId xmlns:a16="http://schemas.microsoft.com/office/drawing/2014/main" val="29681042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dirty="0">
                          <a:effectLst/>
                        </a:rPr>
                        <a:t>Ativo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dirty="0" err="1">
                          <a:effectLst/>
                        </a:rPr>
                        <a:t>Peso_Min_Vol</a:t>
                      </a:r>
                      <a:endParaRPr lang="pt-BR" sz="1400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dirty="0" err="1">
                          <a:effectLst/>
                        </a:rPr>
                        <a:t>Peso_Max_Sharpe</a:t>
                      </a:r>
                      <a:endParaRPr lang="pt-BR" sz="1400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460445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AMZN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12.46%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0.00%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188025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GOOGL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25.83%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0.00%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038098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META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0.00%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0.00%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360176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NDAQ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61.72%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0.00%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089551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NVDA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0.00%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effectLst/>
                        </a:rPr>
                        <a:t>100.00%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306174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9232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Gráfico&#10;&#10;O conteúdo gerado por IA pode estar incorreto.">
            <a:extLst>
              <a:ext uri="{FF2B5EF4-FFF2-40B4-BE49-F238E27FC236}">
                <a16:creationId xmlns:a16="http://schemas.microsoft.com/office/drawing/2014/main" id="{E189EC8A-190A-7349-05F4-5E0058C24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920000" cy="5354462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ED6397F3-53F7-232B-AEB9-BF81941F31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988871"/>
              </p:ext>
            </p:extLst>
          </p:nvPr>
        </p:nvGraphicFramePr>
        <p:xfrm>
          <a:off x="6912428" y="1092058"/>
          <a:ext cx="5127172" cy="146304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281793">
                  <a:extLst>
                    <a:ext uri="{9D8B030D-6E8A-4147-A177-3AD203B41FA5}">
                      <a16:colId xmlns:a16="http://schemas.microsoft.com/office/drawing/2014/main" val="1207837035"/>
                    </a:ext>
                  </a:extLst>
                </a:gridCol>
                <a:gridCol w="1281793">
                  <a:extLst>
                    <a:ext uri="{9D8B030D-6E8A-4147-A177-3AD203B41FA5}">
                      <a16:colId xmlns:a16="http://schemas.microsoft.com/office/drawing/2014/main" val="2335544371"/>
                    </a:ext>
                  </a:extLst>
                </a:gridCol>
                <a:gridCol w="1281793">
                  <a:extLst>
                    <a:ext uri="{9D8B030D-6E8A-4147-A177-3AD203B41FA5}">
                      <a16:colId xmlns:a16="http://schemas.microsoft.com/office/drawing/2014/main" val="1274739531"/>
                    </a:ext>
                  </a:extLst>
                </a:gridCol>
                <a:gridCol w="1281793">
                  <a:extLst>
                    <a:ext uri="{9D8B030D-6E8A-4147-A177-3AD203B41FA5}">
                      <a16:colId xmlns:a16="http://schemas.microsoft.com/office/drawing/2014/main" val="12012753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Carteira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Retorno anual esperado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Volatilidade anual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Sharpe (rf=CDI)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963485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effectLst/>
                        </a:rPr>
                        <a:t>Mín. Volatilidade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 dirty="0">
                          <a:effectLst/>
                        </a:rPr>
                        <a:t>23.00%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 dirty="0">
                          <a:effectLst/>
                        </a:rPr>
                        <a:t>26.56%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>
                          <a:effectLst/>
                        </a:rPr>
                        <a:t>0.305073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454704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effectLst/>
                        </a:rPr>
                        <a:t>Sharpe Máximo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>
                          <a:effectLst/>
                        </a:rPr>
                        <a:t>78.08%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 dirty="0">
                          <a:effectLst/>
                        </a:rPr>
                        <a:t>55.98%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 dirty="0">
                          <a:effectLst/>
                        </a:rPr>
                        <a:t>1.128624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691916832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FE5C0283-EF83-D073-359B-909000D31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628187"/>
              </p:ext>
            </p:extLst>
          </p:nvPr>
        </p:nvGraphicFramePr>
        <p:xfrm>
          <a:off x="6912428" y="2827814"/>
          <a:ext cx="5127171" cy="192024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709057">
                  <a:extLst>
                    <a:ext uri="{9D8B030D-6E8A-4147-A177-3AD203B41FA5}">
                      <a16:colId xmlns:a16="http://schemas.microsoft.com/office/drawing/2014/main" val="668974829"/>
                    </a:ext>
                  </a:extLst>
                </a:gridCol>
                <a:gridCol w="1709057">
                  <a:extLst>
                    <a:ext uri="{9D8B030D-6E8A-4147-A177-3AD203B41FA5}">
                      <a16:colId xmlns:a16="http://schemas.microsoft.com/office/drawing/2014/main" val="3393112357"/>
                    </a:ext>
                  </a:extLst>
                </a:gridCol>
                <a:gridCol w="1709057">
                  <a:extLst>
                    <a:ext uri="{9D8B030D-6E8A-4147-A177-3AD203B41FA5}">
                      <a16:colId xmlns:a16="http://schemas.microsoft.com/office/drawing/2014/main" val="7208339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dirty="0">
                          <a:effectLst/>
                        </a:rPr>
                        <a:t>Ativo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dirty="0" err="1">
                          <a:effectLst/>
                        </a:rPr>
                        <a:t>Peso_Min_Vol</a:t>
                      </a:r>
                      <a:endParaRPr lang="pt-BR" sz="1400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dirty="0" err="1">
                          <a:effectLst/>
                        </a:rPr>
                        <a:t>Peso_Max_Sharpe</a:t>
                      </a:r>
                      <a:endParaRPr lang="pt-BR" sz="1400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385373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AMZN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effectLst/>
                        </a:rPr>
                        <a:t>0.00%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effectLst/>
                        </a:rPr>
                        <a:t>0.00%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811264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GOOGL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0.00%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0.00%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548873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META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0.00%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0.00%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582749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NDAQ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7.63%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0.00%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783548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NVDA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0.00%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100.00%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01906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VOO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92.37%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effectLst/>
                        </a:rPr>
                        <a:t>0.00%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060876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829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7F6FA517-7EB9-700E-4309-466B67725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920000" cy="5403996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3782C648-5EAA-4C5A-108F-9C06A186A3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853946"/>
              </p:ext>
            </p:extLst>
          </p:nvPr>
        </p:nvGraphicFramePr>
        <p:xfrm>
          <a:off x="6847113" y="1136174"/>
          <a:ext cx="5236028" cy="146304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309007">
                  <a:extLst>
                    <a:ext uri="{9D8B030D-6E8A-4147-A177-3AD203B41FA5}">
                      <a16:colId xmlns:a16="http://schemas.microsoft.com/office/drawing/2014/main" val="1799761211"/>
                    </a:ext>
                  </a:extLst>
                </a:gridCol>
                <a:gridCol w="1309007">
                  <a:extLst>
                    <a:ext uri="{9D8B030D-6E8A-4147-A177-3AD203B41FA5}">
                      <a16:colId xmlns:a16="http://schemas.microsoft.com/office/drawing/2014/main" val="3941145824"/>
                    </a:ext>
                  </a:extLst>
                </a:gridCol>
                <a:gridCol w="1309007">
                  <a:extLst>
                    <a:ext uri="{9D8B030D-6E8A-4147-A177-3AD203B41FA5}">
                      <a16:colId xmlns:a16="http://schemas.microsoft.com/office/drawing/2014/main" val="3869204629"/>
                    </a:ext>
                  </a:extLst>
                </a:gridCol>
                <a:gridCol w="1309007">
                  <a:extLst>
                    <a:ext uri="{9D8B030D-6E8A-4147-A177-3AD203B41FA5}">
                      <a16:colId xmlns:a16="http://schemas.microsoft.com/office/drawing/2014/main" val="11786941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Carteira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dirty="0">
                          <a:effectLst/>
                        </a:rPr>
                        <a:t>Retorno anual esperado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Volatilidade anual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Sharpe (rf=CDI)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443362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effectLst/>
                        </a:rPr>
                        <a:t>Mín. Volatilidade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 dirty="0">
                          <a:effectLst/>
                        </a:rPr>
                        <a:t>64.23%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 dirty="0">
                          <a:effectLst/>
                        </a:rPr>
                        <a:t>60.97%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>
                          <a:effectLst/>
                        </a:rPr>
                        <a:t>0.809057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111204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effectLst/>
                        </a:rPr>
                        <a:t>Sharpe Máximo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>
                          <a:effectLst/>
                        </a:rPr>
                        <a:t>134.03%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 dirty="0">
                          <a:effectLst/>
                        </a:rPr>
                        <a:t>99.00%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 dirty="0">
                          <a:effectLst/>
                        </a:rPr>
                        <a:t>1.203358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942503224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8B1B3AD9-5EEA-AA22-CCEC-468B59AA6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114216"/>
              </p:ext>
            </p:extLst>
          </p:nvPr>
        </p:nvGraphicFramePr>
        <p:xfrm>
          <a:off x="6847113" y="2767165"/>
          <a:ext cx="5236029" cy="82296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745343">
                  <a:extLst>
                    <a:ext uri="{9D8B030D-6E8A-4147-A177-3AD203B41FA5}">
                      <a16:colId xmlns:a16="http://schemas.microsoft.com/office/drawing/2014/main" val="1093365338"/>
                    </a:ext>
                  </a:extLst>
                </a:gridCol>
                <a:gridCol w="1745343">
                  <a:extLst>
                    <a:ext uri="{9D8B030D-6E8A-4147-A177-3AD203B41FA5}">
                      <a16:colId xmlns:a16="http://schemas.microsoft.com/office/drawing/2014/main" val="2100352741"/>
                    </a:ext>
                  </a:extLst>
                </a:gridCol>
                <a:gridCol w="1745343">
                  <a:extLst>
                    <a:ext uri="{9D8B030D-6E8A-4147-A177-3AD203B41FA5}">
                      <a16:colId xmlns:a16="http://schemas.microsoft.com/office/drawing/2014/main" val="4122606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dirty="0">
                          <a:effectLst/>
                        </a:rPr>
                        <a:t>Ativo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dirty="0" err="1">
                          <a:effectLst/>
                        </a:rPr>
                        <a:t>Peso_Min_Vol</a:t>
                      </a:r>
                      <a:endParaRPr lang="pt-BR" sz="1400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dirty="0" err="1">
                          <a:effectLst/>
                        </a:rPr>
                        <a:t>Peso_Max_Sharpe</a:t>
                      </a:r>
                      <a:endParaRPr lang="pt-BR" sz="1400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902584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BTC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100.00%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effectLst/>
                        </a:rPr>
                        <a:t>29.57%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706086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SOL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effectLst/>
                        </a:rPr>
                        <a:t>0.00%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effectLst/>
                        </a:rPr>
                        <a:t>70.43%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069978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3123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Gráfico, Gráfico de dispersão&#10;&#10;O conteúdo gerado por IA pode estar incorreto.">
            <a:extLst>
              <a:ext uri="{FF2B5EF4-FFF2-40B4-BE49-F238E27FC236}">
                <a16:creationId xmlns:a16="http://schemas.microsoft.com/office/drawing/2014/main" id="{AA0472E5-9FDE-E9E5-44F8-B003CCE07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7920000" cy="5400621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B3185A5A-9E05-9234-22AA-94C3F5426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342560"/>
              </p:ext>
            </p:extLst>
          </p:nvPr>
        </p:nvGraphicFramePr>
        <p:xfrm>
          <a:off x="6881847" y="98841"/>
          <a:ext cx="5225144" cy="146304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306286">
                  <a:extLst>
                    <a:ext uri="{9D8B030D-6E8A-4147-A177-3AD203B41FA5}">
                      <a16:colId xmlns:a16="http://schemas.microsoft.com/office/drawing/2014/main" val="4231422217"/>
                    </a:ext>
                  </a:extLst>
                </a:gridCol>
                <a:gridCol w="1306286">
                  <a:extLst>
                    <a:ext uri="{9D8B030D-6E8A-4147-A177-3AD203B41FA5}">
                      <a16:colId xmlns:a16="http://schemas.microsoft.com/office/drawing/2014/main" val="3687726045"/>
                    </a:ext>
                  </a:extLst>
                </a:gridCol>
                <a:gridCol w="1306286">
                  <a:extLst>
                    <a:ext uri="{9D8B030D-6E8A-4147-A177-3AD203B41FA5}">
                      <a16:colId xmlns:a16="http://schemas.microsoft.com/office/drawing/2014/main" val="1464076675"/>
                    </a:ext>
                  </a:extLst>
                </a:gridCol>
                <a:gridCol w="1306286">
                  <a:extLst>
                    <a:ext uri="{9D8B030D-6E8A-4147-A177-3AD203B41FA5}">
                      <a16:colId xmlns:a16="http://schemas.microsoft.com/office/drawing/2014/main" val="3715967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Carteira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Retorno anual esperado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Volatilidade anual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Sharpe (rf=CDI)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772440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effectLst/>
                        </a:rPr>
                        <a:t>Mín. Volatilidade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 dirty="0">
                          <a:effectLst/>
                        </a:rPr>
                        <a:t>15.40%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>
                          <a:effectLst/>
                        </a:rPr>
                        <a:t>10.61%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>
                          <a:effectLst/>
                        </a:rPr>
                        <a:t>0.046800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264747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effectLst/>
                        </a:rPr>
                        <a:t>Sharpe Máximo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>
                          <a:effectLst/>
                        </a:rPr>
                        <a:t>36.93%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 dirty="0">
                          <a:effectLst/>
                        </a:rPr>
                        <a:t>16.20%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 dirty="0">
                          <a:effectLst/>
                        </a:rPr>
                        <a:t>1.359829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6602282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1A294EE2-EAAF-5C0E-B91B-B01016493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370351"/>
              </p:ext>
            </p:extLst>
          </p:nvPr>
        </p:nvGraphicFramePr>
        <p:xfrm>
          <a:off x="6881847" y="1726689"/>
          <a:ext cx="5225145" cy="4351334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741715">
                  <a:extLst>
                    <a:ext uri="{9D8B030D-6E8A-4147-A177-3AD203B41FA5}">
                      <a16:colId xmlns:a16="http://schemas.microsoft.com/office/drawing/2014/main" val="819115914"/>
                    </a:ext>
                  </a:extLst>
                </a:gridCol>
                <a:gridCol w="1741715">
                  <a:extLst>
                    <a:ext uri="{9D8B030D-6E8A-4147-A177-3AD203B41FA5}">
                      <a16:colId xmlns:a16="http://schemas.microsoft.com/office/drawing/2014/main" val="3318300752"/>
                    </a:ext>
                  </a:extLst>
                </a:gridCol>
                <a:gridCol w="1741715">
                  <a:extLst>
                    <a:ext uri="{9D8B030D-6E8A-4147-A177-3AD203B41FA5}">
                      <a16:colId xmlns:a16="http://schemas.microsoft.com/office/drawing/2014/main" val="568123241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Ativo</a:t>
                      </a:r>
                    </a:p>
                  </a:txBody>
                  <a:tcPr marL="60858" marR="60858" marT="30429" marB="30429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 dirty="0" err="1">
                          <a:effectLst/>
                        </a:rPr>
                        <a:t>Peso_Min_Vol</a:t>
                      </a:r>
                      <a:endParaRPr lang="pt-BR" sz="1500" b="1" dirty="0">
                        <a:effectLst/>
                      </a:endParaRPr>
                    </a:p>
                  </a:txBody>
                  <a:tcPr marL="60858" marR="60858" marT="30429" marB="30429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 dirty="0" err="1">
                          <a:effectLst/>
                        </a:rPr>
                        <a:t>Peso_Max_Sharpe</a:t>
                      </a:r>
                      <a:endParaRPr lang="pt-BR" sz="1500" b="1" dirty="0">
                        <a:effectLst/>
                      </a:endParaRPr>
                    </a:p>
                  </a:txBody>
                  <a:tcPr marL="60858" marR="60858" marT="30429" marB="30429" anchor="ctr"/>
                </a:tc>
                <a:extLst>
                  <a:ext uri="{0D108BD9-81ED-4DB2-BD59-A6C34878D82A}">
                    <a16:rowId xmlns:a16="http://schemas.microsoft.com/office/drawing/2014/main" val="298597763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</a:rPr>
                        <a:t>AMZN</a:t>
                      </a:r>
                    </a:p>
                  </a:txBody>
                  <a:tcPr marL="60858" marR="60858" marT="30429" marB="304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0.00%</a:t>
                      </a:r>
                    </a:p>
                  </a:txBody>
                  <a:tcPr marL="60858" marR="60858" marT="30429" marB="304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0.00%</a:t>
                      </a:r>
                    </a:p>
                  </a:txBody>
                  <a:tcPr marL="60858" marR="60858" marT="30429" marB="30429" anchor="ctr"/>
                </a:tc>
                <a:extLst>
                  <a:ext uri="{0D108BD9-81ED-4DB2-BD59-A6C34878D82A}">
                    <a16:rowId xmlns:a16="http://schemas.microsoft.com/office/drawing/2014/main" val="349634493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BBAS3</a:t>
                      </a:r>
                    </a:p>
                  </a:txBody>
                  <a:tcPr marL="60858" marR="60858" marT="30429" marB="304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11.80%</a:t>
                      </a:r>
                    </a:p>
                  </a:txBody>
                  <a:tcPr marL="60858" marR="60858" marT="30429" marB="304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0.00%</a:t>
                      </a:r>
                    </a:p>
                  </a:txBody>
                  <a:tcPr marL="60858" marR="60858" marT="30429" marB="30429" anchor="ctr"/>
                </a:tc>
                <a:extLst>
                  <a:ext uri="{0D108BD9-81ED-4DB2-BD59-A6C34878D82A}">
                    <a16:rowId xmlns:a16="http://schemas.microsoft.com/office/drawing/2014/main" val="277688935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</a:rPr>
                        <a:t>BTC</a:t>
                      </a:r>
                    </a:p>
                  </a:txBody>
                  <a:tcPr marL="60858" marR="60858" marT="30429" marB="304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0.00%</a:t>
                      </a:r>
                    </a:p>
                  </a:txBody>
                  <a:tcPr marL="60858" marR="60858" marT="30429" marB="304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0.00%</a:t>
                      </a:r>
                    </a:p>
                  </a:txBody>
                  <a:tcPr marL="60858" marR="60858" marT="30429" marB="30429" anchor="ctr"/>
                </a:tc>
                <a:extLst>
                  <a:ext uri="{0D108BD9-81ED-4DB2-BD59-A6C34878D82A}">
                    <a16:rowId xmlns:a16="http://schemas.microsoft.com/office/drawing/2014/main" val="133946397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GOOGL</a:t>
                      </a:r>
                    </a:p>
                  </a:txBody>
                  <a:tcPr marL="60858" marR="60858" marT="30429" marB="304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0.65%</a:t>
                      </a:r>
                    </a:p>
                  </a:txBody>
                  <a:tcPr marL="60858" marR="60858" marT="30429" marB="304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18.76%</a:t>
                      </a:r>
                    </a:p>
                  </a:txBody>
                  <a:tcPr marL="60858" marR="60858" marT="30429" marB="30429" anchor="ctr"/>
                </a:tc>
                <a:extLst>
                  <a:ext uri="{0D108BD9-81ED-4DB2-BD59-A6C34878D82A}">
                    <a16:rowId xmlns:a16="http://schemas.microsoft.com/office/drawing/2014/main" val="196064812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ITUB4</a:t>
                      </a:r>
                    </a:p>
                  </a:txBody>
                  <a:tcPr marL="60858" marR="60858" marT="30429" marB="304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16.53%</a:t>
                      </a:r>
                    </a:p>
                  </a:txBody>
                  <a:tcPr marL="60858" marR="60858" marT="30429" marB="304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52.43%</a:t>
                      </a:r>
                    </a:p>
                  </a:txBody>
                  <a:tcPr marL="60858" marR="60858" marT="30429" marB="30429" anchor="ctr"/>
                </a:tc>
                <a:extLst>
                  <a:ext uri="{0D108BD9-81ED-4DB2-BD59-A6C34878D82A}">
                    <a16:rowId xmlns:a16="http://schemas.microsoft.com/office/drawing/2014/main" val="291887423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KDIF11</a:t>
                      </a:r>
                    </a:p>
                  </a:txBody>
                  <a:tcPr marL="60858" marR="60858" marT="30429" marB="304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49.83%</a:t>
                      </a:r>
                    </a:p>
                  </a:txBody>
                  <a:tcPr marL="60858" marR="60858" marT="30429" marB="304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0.00%</a:t>
                      </a:r>
                    </a:p>
                  </a:txBody>
                  <a:tcPr marL="60858" marR="60858" marT="30429" marB="30429" anchor="ctr"/>
                </a:tc>
                <a:extLst>
                  <a:ext uri="{0D108BD9-81ED-4DB2-BD59-A6C34878D82A}">
                    <a16:rowId xmlns:a16="http://schemas.microsoft.com/office/drawing/2014/main" val="346849587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META</a:t>
                      </a:r>
                    </a:p>
                  </a:txBody>
                  <a:tcPr marL="60858" marR="60858" marT="30429" marB="304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0.00%</a:t>
                      </a:r>
                    </a:p>
                  </a:txBody>
                  <a:tcPr marL="60858" marR="60858" marT="30429" marB="304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0.00%</a:t>
                      </a:r>
                    </a:p>
                  </a:txBody>
                  <a:tcPr marL="60858" marR="60858" marT="30429" marB="30429" anchor="ctr"/>
                </a:tc>
                <a:extLst>
                  <a:ext uri="{0D108BD9-81ED-4DB2-BD59-A6C34878D82A}">
                    <a16:rowId xmlns:a16="http://schemas.microsoft.com/office/drawing/2014/main" val="111489121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NDAQ</a:t>
                      </a:r>
                    </a:p>
                  </a:txBody>
                  <a:tcPr marL="60858" marR="60858" marT="30429" marB="304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4.49%</a:t>
                      </a:r>
                    </a:p>
                  </a:txBody>
                  <a:tcPr marL="60858" marR="60858" marT="30429" marB="304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26.86%</a:t>
                      </a:r>
                    </a:p>
                  </a:txBody>
                  <a:tcPr marL="60858" marR="60858" marT="30429" marB="30429" anchor="ctr"/>
                </a:tc>
                <a:extLst>
                  <a:ext uri="{0D108BD9-81ED-4DB2-BD59-A6C34878D82A}">
                    <a16:rowId xmlns:a16="http://schemas.microsoft.com/office/drawing/2014/main" val="320917109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NVDA</a:t>
                      </a:r>
                    </a:p>
                  </a:txBody>
                  <a:tcPr marL="60858" marR="60858" marT="30429" marB="304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0.00%</a:t>
                      </a:r>
                    </a:p>
                  </a:txBody>
                  <a:tcPr marL="60858" marR="60858" marT="30429" marB="304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0.00%</a:t>
                      </a:r>
                    </a:p>
                  </a:txBody>
                  <a:tcPr marL="60858" marR="60858" marT="30429" marB="30429" anchor="ctr"/>
                </a:tc>
                <a:extLst>
                  <a:ext uri="{0D108BD9-81ED-4DB2-BD59-A6C34878D82A}">
                    <a16:rowId xmlns:a16="http://schemas.microsoft.com/office/drawing/2014/main" val="261010265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QBTC11</a:t>
                      </a:r>
                    </a:p>
                  </a:txBody>
                  <a:tcPr marL="60858" marR="60858" marT="30429" marB="304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3.89%</a:t>
                      </a:r>
                    </a:p>
                  </a:txBody>
                  <a:tcPr marL="60858" marR="60858" marT="30429" marB="304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</a:rPr>
                        <a:t>1.96%</a:t>
                      </a:r>
                    </a:p>
                  </a:txBody>
                  <a:tcPr marL="60858" marR="60858" marT="30429" marB="30429" anchor="ctr"/>
                </a:tc>
                <a:extLst>
                  <a:ext uri="{0D108BD9-81ED-4DB2-BD59-A6C34878D82A}">
                    <a16:rowId xmlns:a16="http://schemas.microsoft.com/office/drawing/2014/main" val="362603208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</a:rPr>
                        <a:t>SOL</a:t>
                      </a:r>
                    </a:p>
                  </a:txBody>
                  <a:tcPr marL="60858" marR="60858" marT="30429" marB="304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0.00%</a:t>
                      </a:r>
                    </a:p>
                  </a:txBody>
                  <a:tcPr marL="60858" marR="60858" marT="30429" marB="304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</a:rPr>
                        <a:t>0.00%</a:t>
                      </a:r>
                    </a:p>
                  </a:txBody>
                  <a:tcPr marL="60858" marR="60858" marT="30429" marB="30429" anchor="ctr"/>
                </a:tc>
                <a:extLst>
                  <a:ext uri="{0D108BD9-81ED-4DB2-BD59-A6C34878D82A}">
                    <a16:rowId xmlns:a16="http://schemas.microsoft.com/office/drawing/2014/main" val="294485014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VOO</a:t>
                      </a:r>
                    </a:p>
                  </a:txBody>
                  <a:tcPr marL="60858" marR="60858" marT="30429" marB="304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12.82%</a:t>
                      </a:r>
                    </a:p>
                  </a:txBody>
                  <a:tcPr marL="60858" marR="60858" marT="30429" marB="304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</a:rPr>
                        <a:t>0.00%</a:t>
                      </a:r>
                    </a:p>
                  </a:txBody>
                  <a:tcPr marL="60858" marR="60858" marT="30429" marB="30429" anchor="ctr"/>
                </a:tc>
                <a:extLst>
                  <a:ext uri="{0D108BD9-81ED-4DB2-BD59-A6C34878D82A}">
                    <a16:rowId xmlns:a16="http://schemas.microsoft.com/office/drawing/2014/main" val="2183892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5341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Gráfico, Gráfico de dispersão&#10;&#10;O conteúdo gerado por IA pode estar incorreto.">
            <a:extLst>
              <a:ext uri="{FF2B5EF4-FFF2-40B4-BE49-F238E27FC236}">
                <a16:creationId xmlns:a16="http://schemas.microsoft.com/office/drawing/2014/main" id="{EA35B6F7-BF0D-4ABD-A1AC-BFF54288DFDA}"/>
              </a:ext>
            </a:extLst>
          </p:cNvPr>
          <p:cNvPicPr>
            <a:picLocks/>
          </p:cNvPicPr>
          <p:nvPr/>
        </p:nvPicPr>
        <p:blipFill>
          <a:blip r:embed="rId2"/>
          <a:srcRect t="-1" b="1172"/>
          <a:stretch>
            <a:fillRect/>
          </a:stretch>
        </p:blipFill>
        <p:spPr>
          <a:xfrm>
            <a:off x="0" y="0"/>
            <a:ext cx="7920000" cy="5400000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7210F4E6-C602-0F76-8BC5-01F8B8568D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703312"/>
              </p:ext>
            </p:extLst>
          </p:nvPr>
        </p:nvGraphicFramePr>
        <p:xfrm>
          <a:off x="6901542" y="80260"/>
          <a:ext cx="5214256" cy="146304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303564">
                  <a:extLst>
                    <a:ext uri="{9D8B030D-6E8A-4147-A177-3AD203B41FA5}">
                      <a16:colId xmlns:a16="http://schemas.microsoft.com/office/drawing/2014/main" val="4276066930"/>
                    </a:ext>
                  </a:extLst>
                </a:gridCol>
                <a:gridCol w="1303564">
                  <a:extLst>
                    <a:ext uri="{9D8B030D-6E8A-4147-A177-3AD203B41FA5}">
                      <a16:colId xmlns:a16="http://schemas.microsoft.com/office/drawing/2014/main" val="3733374250"/>
                    </a:ext>
                  </a:extLst>
                </a:gridCol>
                <a:gridCol w="1303564">
                  <a:extLst>
                    <a:ext uri="{9D8B030D-6E8A-4147-A177-3AD203B41FA5}">
                      <a16:colId xmlns:a16="http://schemas.microsoft.com/office/drawing/2014/main" val="2928199870"/>
                    </a:ext>
                  </a:extLst>
                </a:gridCol>
                <a:gridCol w="1303564">
                  <a:extLst>
                    <a:ext uri="{9D8B030D-6E8A-4147-A177-3AD203B41FA5}">
                      <a16:colId xmlns:a16="http://schemas.microsoft.com/office/drawing/2014/main" val="37922165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Carteira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Retorno anual esperado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Volatilidade anual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>
                          <a:effectLst/>
                        </a:rPr>
                        <a:t>Sharpe (rf=CDI)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89143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effectLst/>
                        </a:rPr>
                        <a:t>Mín. Volatilidade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 dirty="0">
                          <a:effectLst/>
                        </a:rPr>
                        <a:t>15.44%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>
                          <a:effectLst/>
                        </a:rPr>
                        <a:t>10.02%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>
                          <a:effectLst/>
                        </a:rPr>
                        <a:t>0.054021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951392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effectLst/>
                        </a:rPr>
                        <a:t>Sharpe Máximo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>
                          <a:effectLst/>
                        </a:rPr>
                        <a:t>36.59%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 dirty="0">
                          <a:effectLst/>
                        </a:rPr>
                        <a:t>15.94%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 dirty="0">
                          <a:effectLst/>
                        </a:rPr>
                        <a:t>1.360867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119219417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234FD04D-84B9-BD55-E5B0-5E7B40D5B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5559306"/>
              </p:ext>
            </p:extLst>
          </p:nvPr>
        </p:nvGraphicFramePr>
        <p:xfrm>
          <a:off x="6883200" y="1728000"/>
          <a:ext cx="5214255" cy="4351335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738085">
                  <a:extLst>
                    <a:ext uri="{9D8B030D-6E8A-4147-A177-3AD203B41FA5}">
                      <a16:colId xmlns:a16="http://schemas.microsoft.com/office/drawing/2014/main" val="3128666497"/>
                    </a:ext>
                  </a:extLst>
                </a:gridCol>
                <a:gridCol w="1738085">
                  <a:extLst>
                    <a:ext uri="{9D8B030D-6E8A-4147-A177-3AD203B41FA5}">
                      <a16:colId xmlns:a16="http://schemas.microsoft.com/office/drawing/2014/main" val="207180686"/>
                    </a:ext>
                  </a:extLst>
                </a:gridCol>
                <a:gridCol w="1738085">
                  <a:extLst>
                    <a:ext uri="{9D8B030D-6E8A-4147-A177-3AD203B41FA5}">
                      <a16:colId xmlns:a16="http://schemas.microsoft.com/office/drawing/2014/main" val="2823434510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Ativo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 dirty="0" err="1">
                          <a:effectLst/>
                        </a:rPr>
                        <a:t>Peso_Min_Vol</a:t>
                      </a:r>
                      <a:endParaRPr lang="pt-BR" sz="1500" b="1" dirty="0">
                        <a:effectLst/>
                      </a:endParaRP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500" b="1" dirty="0" err="1">
                          <a:effectLst/>
                        </a:rPr>
                        <a:t>Peso_Max_Sharpe</a:t>
                      </a:r>
                      <a:endParaRPr lang="pt-BR" sz="1500" b="1" dirty="0">
                        <a:effectLst/>
                      </a:endParaRPr>
                    </a:p>
                  </a:txBody>
                  <a:tcPr marL="52743" marR="52743" marT="26372" marB="26372" anchor="ctr"/>
                </a:tc>
                <a:extLst>
                  <a:ext uri="{0D108BD9-81ED-4DB2-BD59-A6C34878D82A}">
                    <a16:rowId xmlns:a16="http://schemas.microsoft.com/office/drawing/2014/main" val="254114443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AMZN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0.00%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0.00%</a:t>
                      </a:r>
                    </a:p>
                  </a:txBody>
                  <a:tcPr marL="52743" marR="52743" marT="26372" marB="26372" anchor="ctr"/>
                </a:tc>
                <a:extLst>
                  <a:ext uri="{0D108BD9-81ED-4DB2-BD59-A6C34878D82A}">
                    <a16:rowId xmlns:a16="http://schemas.microsoft.com/office/drawing/2014/main" val="275939627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BBAS3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effectLst/>
                        </a:rPr>
                        <a:t>8.74%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0.00%</a:t>
                      </a:r>
                    </a:p>
                  </a:txBody>
                  <a:tcPr marL="52743" marR="52743" marT="26372" marB="26372" anchor="ctr"/>
                </a:tc>
                <a:extLst>
                  <a:ext uri="{0D108BD9-81ED-4DB2-BD59-A6C34878D82A}">
                    <a16:rowId xmlns:a16="http://schemas.microsoft.com/office/drawing/2014/main" val="168412617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BTC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0.00%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0.00%</a:t>
                      </a:r>
                    </a:p>
                  </a:txBody>
                  <a:tcPr marL="52743" marR="52743" marT="26372" marB="26372" anchor="ctr"/>
                </a:tc>
                <a:extLst>
                  <a:ext uri="{0D108BD9-81ED-4DB2-BD59-A6C34878D82A}">
                    <a16:rowId xmlns:a16="http://schemas.microsoft.com/office/drawing/2014/main" val="333808011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GOOGL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0.96%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18.06%</a:t>
                      </a:r>
                    </a:p>
                  </a:txBody>
                  <a:tcPr marL="52743" marR="52743" marT="26372" marB="26372" anchor="ctr"/>
                </a:tc>
                <a:extLst>
                  <a:ext uri="{0D108BD9-81ED-4DB2-BD59-A6C34878D82A}">
                    <a16:rowId xmlns:a16="http://schemas.microsoft.com/office/drawing/2014/main" val="117232280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ITUB4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11.44%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50.94%</a:t>
                      </a:r>
                    </a:p>
                  </a:txBody>
                  <a:tcPr marL="52743" marR="52743" marT="26372" marB="26372" anchor="ctr"/>
                </a:tc>
                <a:extLst>
                  <a:ext uri="{0D108BD9-81ED-4DB2-BD59-A6C34878D82A}">
                    <a16:rowId xmlns:a16="http://schemas.microsoft.com/office/drawing/2014/main" val="79206425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KDIF11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effectLst/>
                        </a:rPr>
                        <a:t>44.43%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0.00%</a:t>
                      </a:r>
                    </a:p>
                  </a:txBody>
                  <a:tcPr marL="52743" marR="52743" marT="26372" marB="26372" anchor="ctr"/>
                </a:tc>
                <a:extLst>
                  <a:ext uri="{0D108BD9-81ED-4DB2-BD59-A6C34878D82A}">
                    <a16:rowId xmlns:a16="http://schemas.microsoft.com/office/drawing/2014/main" val="380523495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</a:rPr>
                        <a:t>META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0.00%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0.00%</a:t>
                      </a:r>
                    </a:p>
                  </a:txBody>
                  <a:tcPr marL="52743" marR="52743" marT="26372" marB="26372" anchor="ctr"/>
                </a:tc>
                <a:extLst>
                  <a:ext uri="{0D108BD9-81ED-4DB2-BD59-A6C34878D82A}">
                    <a16:rowId xmlns:a16="http://schemas.microsoft.com/office/drawing/2014/main" val="250167636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NDAQ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5.52%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26.29%</a:t>
                      </a:r>
                    </a:p>
                  </a:txBody>
                  <a:tcPr marL="52743" marR="52743" marT="26372" marB="26372" anchor="ctr"/>
                </a:tc>
                <a:extLst>
                  <a:ext uri="{0D108BD9-81ED-4DB2-BD59-A6C34878D82A}">
                    <a16:rowId xmlns:a16="http://schemas.microsoft.com/office/drawing/2014/main" val="152733196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NVDA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0.00%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0.00%</a:t>
                      </a:r>
                    </a:p>
                  </a:txBody>
                  <a:tcPr marL="52743" marR="52743" marT="26372" marB="26372" anchor="ctr"/>
                </a:tc>
                <a:extLst>
                  <a:ext uri="{0D108BD9-81ED-4DB2-BD59-A6C34878D82A}">
                    <a16:rowId xmlns:a16="http://schemas.microsoft.com/office/drawing/2014/main" val="325373187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PETR4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10.96%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0.00%</a:t>
                      </a:r>
                    </a:p>
                  </a:txBody>
                  <a:tcPr marL="52743" marR="52743" marT="26372" marB="26372" anchor="ctr"/>
                </a:tc>
                <a:extLst>
                  <a:ext uri="{0D108BD9-81ED-4DB2-BD59-A6C34878D82A}">
                    <a16:rowId xmlns:a16="http://schemas.microsoft.com/office/drawing/2014/main" val="76442032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QBTC11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3.23%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1.84%</a:t>
                      </a:r>
                    </a:p>
                  </a:txBody>
                  <a:tcPr marL="52743" marR="52743" marT="26372" marB="26372" anchor="ctr"/>
                </a:tc>
                <a:extLst>
                  <a:ext uri="{0D108BD9-81ED-4DB2-BD59-A6C34878D82A}">
                    <a16:rowId xmlns:a16="http://schemas.microsoft.com/office/drawing/2014/main" val="82737746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SOL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0" dirty="0">
                          <a:effectLst/>
                        </a:rPr>
                        <a:t>0.00%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0.00%</a:t>
                      </a:r>
                    </a:p>
                  </a:txBody>
                  <a:tcPr marL="52743" marR="52743" marT="26372" marB="26372" anchor="ctr"/>
                </a:tc>
                <a:extLst>
                  <a:ext uri="{0D108BD9-81ED-4DB2-BD59-A6C34878D82A}">
                    <a16:rowId xmlns:a16="http://schemas.microsoft.com/office/drawing/2014/main" val="158388385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VALE3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9.74%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>
                          <a:effectLst/>
                        </a:rPr>
                        <a:t>2.86%</a:t>
                      </a:r>
                    </a:p>
                  </a:txBody>
                  <a:tcPr marL="52743" marR="52743" marT="26372" marB="26372" anchor="ctr"/>
                </a:tc>
                <a:extLst>
                  <a:ext uri="{0D108BD9-81ED-4DB2-BD59-A6C34878D82A}">
                    <a16:rowId xmlns:a16="http://schemas.microsoft.com/office/drawing/2014/main" val="206827615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VOO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effectLst/>
                        </a:rPr>
                        <a:t>4.99%</a:t>
                      </a:r>
                    </a:p>
                  </a:txBody>
                  <a:tcPr marL="52743" marR="52743" marT="26372" marB="263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dirty="0">
                          <a:effectLst/>
                        </a:rPr>
                        <a:t>0.00%</a:t>
                      </a:r>
                    </a:p>
                  </a:txBody>
                  <a:tcPr marL="52743" marR="52743" marT="26372" marB="26372" anchor="ctr"/>
                </a:tc>
                <a:extLst>
                  <a:ext uri="{0D108BD9-81ED-4DB2-BD59-A6C34878D82A}">
                    <a16:rowId xmlns:a16="http://schemas.microsoft.com/office/drawing/2014/main" val="4125790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2866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1247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815</Words>
  <Application>Microsoft Office PowerPoint</Application>
  <PresentationFormat>Widescreen</PresentationFormat>
  <Paragraphs>384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Erasmo Melo Gusmao</dc:creator>
  <cp:lastModifiedBy>Erasmo Melo Gusmao</cp:lastModifiedBy>
  <cp:revision>14</cp:revision>
  <dcterms:created xsi:type="dcterms:W3CDTF">2026-01-08T20:22:07Z</dcterms:created>
  <dcterms:modified xsi:type="dcterms:W3CDTF">2026-01-09T10:54:35Z</dcterms:modified>
</cp:coreProperties>
</file>